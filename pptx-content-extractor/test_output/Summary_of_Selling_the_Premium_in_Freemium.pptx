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Summary of Selling the Premium in Freemium</a:t>
            </a:r>
          </a:p>
        </p:txBody>
      </p:sp>
      <p:sp>
        <p:nvSpPr>
          <p:cNvPr id="3" name="Subtitle 2"/>
          <p:cNvSpPr>
            <a:spLocks noGrp="1"/>
          </p:cNvSpPr>
          <p:nvPr>
            <p:ph type="subTitle" idx="1"/>
          </p:nvPr>
        </p:nvSpPr>
        <p:spPr/>
        <p:txBody>
          <a:bodyPr/>
          <a:lstStyle/>
          <a:p>
            <a:r>
              <a:t>Generated from content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 Summary: "Selling the Premium in Freemium"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 Overview</a:t>
            </a:r>
          </a:p>
          <a:p>
            <a:pPr/>
            <a:r>
              <a:t>This presentation reviews a 2018 *Journal of Marketing* study by Xian Gu, P.K. Kannan, and Liye Ma, which examines how companies using a freemium business model can increase premium product sales by extending their premium product line. The research uses a randomized field experiment with an online content provider.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 Background and Motivation</a:t>
            </a:r>
          </a:p>
          <a:p>
            <a:pPr/>
            <a:r>
              <a:t>The freemium model combines "free" and "premium," offering customers a basic version at no cost while charging for an enhanced version with additional features. The model's success hinges on converting enough free users into paying customers—failure to do so causes the model to collapse. The authors identify a research gap: prior studies had not examined how *premium product line extensions* affect freemium success. Their purpose was to investigate whether adding premium versions spurs demand for existing premium products and increases overall revenue.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 Literature Review</a:t>
            </a:r>
          </a:p>
          <a:p>
            <a:pPr/>
            <a:r>
              <a:t>The presentation outlines two effects of product line extensions:</a:t>
            </a:r>
          </a:p>
          <a:p>
            <a:pPr/>
            <a:r>
              <a:t>- **Higher-price/higher-quality alternatives** can boost brand evaluation and make the entire line more attractive (variety effect and quality association effect).</a:t>
            </a:r>
          </a:p>
          <a:p>
            <a:pPr/>
            <a:r>
              <a:t>- **Lower-price/lower-quality alternatives** can cause cannibalization, reducing revenue and profits.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The net outcome depends on the relative magnitude of these competing effects.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 Research Methodology</a:t>
            </a:r>
          </a:p>
          <a:p>
            <a:pPr/>
            <a:r>
              <a:t>The field experiment was conducted with the **National Academies Press (NAP)**, a nonprofit, self-sufficient scholarly publisher and a monopolist for its specialized content. NAP adopted a freemium model offering free PDF downloads while selling paperbacks for a premium. The study added two new premium formats: a **hardcover** (superior, durable quality) and an **e-book** (resolution similar to the 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The experiment used a **randomized block design** with 2,051 book titles, blocking on paperback price (low/medium/high) and title popularity (low/medium/high). Control and treatment conditions tested the impact of the new formats. Pricing rules: paperbacks kept existing prices, PDFs remained free, e-books priced below paperbacks, and hardcovers priced between 160%–790% of paperback prices. Data collected included prices, copyright year, page count, sales quantities, revenues, free PDF downloads, and email campaigns.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 Data Analysis and Results</a:t>
            </a:r>
          </a:p>
          <a:p>
            <a:pPr/>
            <a:r>
              <a:t>Using a **Difference-in-Differences (DID) model** (comparing treatment and control groups before and after treatment), the study found: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 **Hardcover version:** Introducing the hardcover *increased* demand for paperbacks. Email campaigns, recent publication dates, and more pages also boosted paperback sales.</a:t>
            </a:r>
          </a:p>
          <a:p>
            <a:pPr/>
            <a:r>
              <a:t>- **E-book version:** Introducing the e-book also *increased* paperback demand, with email campaigns and recent publication enhancing sales.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Points</a:t>
            </a:r>
          </a:p>
        </p:txBody>
      </p:sp>
      <p:sp>
        <p:nvSpPr>
          <p:cNvPr id="3" name="Content Placeholder 2"/>
          <p:cNvSpPr>
            <a:spLocks noGrp="1"/>
          </p:cNvSpPr>
          <p:nvPr>
            <p:ph idx="1"/>
          </p:nvPr>
        </p:nvSpPr>
        <p:spPr/>
        <p:txBody>
          <a:bodyPr/>
          <a:lstStyle/>
          <a:p/>
          <a:p>
            <a:pPr/>
            <a:r>
              <a:t>**Behavioral mechanisms:**</a:t>
            </a:r>
          </a:p>
          <a:p>
            <a:pPr/>
            <a:r>
              <a:t>- The **compromise effect** explains the hardcover result—adding a higher-priced option makes the mid-range paperback more attractive.</a:t>
            </a:r>
          </a:p>
          <a:p>
            <a:pPr/>
            <a:r>
              <a:t>- The **attraction effect** explains the e-book result—when an e-book is priced too closely to the paperback, consumers perceive it as "unfairly high," steering them toward the paperback.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